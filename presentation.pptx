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small helpdesk ticketing app whose real purpose is to demonstrate the full DevOps lifecycle. Fill in your name, roll number and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 domain is deliberately simple. The capstone is graded on the DevOps lifecycle, not on app complexity.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objectives, one per DevOps capability the rubric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running app. Walk through creating a ticket and changing its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maps to one rubric module. Nothing exotic - these are the tools used in real teams.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Ingress routes / to the frontend and /api to the backend. Backend talks to Postgres. Prometheus scrapes the backend and Grafana visualises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REST verbs plus a stats endpoint. The schema is auto-documented by FastAPI.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Conventional structure. Each top-level folder corresponds to a rubric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Multi-stage keeps the frontend image tiny. Both run as non-root for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gate order: test first, then build, then scan, then push.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highlight of the security story: the gate did its job, found a real CVE, and we remediated it rather than suppressing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cost discipline: EKS is billable, so apply then destroy. Credentials never go in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five pods Running. Point out the two-replica deployments, the ingress routing, and the HPA reading real CPU.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 load with scripts/load-test.sh and watch the panels move. This is M9.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numbers are real results from this build, not aspirations.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troubleshooting story - graders value this. Each row is a real issue fixed during the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grader through the mapping. Reassure them each module is actually covered.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end-to-end demo. The 'break and fix a manifest' step is the live-failure part of M10.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640080"/>
            <a:ext cx="1280160" cy="128016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332720" y="6400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🎫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8BDF8"/>
                </a:solidFill>
              </a:rPr>
              <a:t>DEVOPS FINAL CAPSTONE / SESSION 21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3774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DeskFlow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118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A helpdesk ticketing app, delivered through a full DevOps pipeline - containers, CI/CD, image scanning, Terraform on AWS, Kubernetes + Helm, and Prometheus/Grafana monitoring.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Student: ____________________      Roll No: ____________      Date: 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Support requests get lost without a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868680" cy="8686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874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Tracked in spreadsheets and chat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490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Tickets are scattered, duplicated, and easy to miss.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874520"/>
            <a:ext cx="868680" cy="8686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874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🕒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926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No sense of priority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7490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Urgent issues look the same as minor ones.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155448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1874520"/>
            <a:ext cx="868680" cy="8686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58200" y="1874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📉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926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No visibility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7490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Nobody can see how much is open, in progress, or resolved.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172A"/>
                </a:solidFill>
              </a:rPr>
              <a:t>DeskFlow gives a small team one place to create, prioritise and track tickets - simple on the surface, so the engineering effort can go into the DevOps pipeline around it.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this project sets out to prove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207008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8BDF8"/>
                </a:solidFill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7647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Build a real app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13055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FastAPI + PostgreSQL + React, with a clean REST API and migrations.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394960" cy="1207008"/>
          </a:xfrm>
          <a:prstGeom prst="roundRect">
            <a:avLst>
              <a:gd name="adj" fmla="val 606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8BDF8"/>
                </a:solidFill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17647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Automate quality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213055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Tests gate every change; CI builds, scans and publishes images.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5394960" cy="1207008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3154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8BDF8"/>
                </a:solidFill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1363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Secure the supply chain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350215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Scan container images for vulnerabilities before they ship.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2971800"/>
            <a:ext cx="5394960" cy="1207008"/>
          </a:xfrm>
          <a:prstGeom prst="roundRect">
            <a:avLst>
              <a:gd name="adj" fmla="val 606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00800" y="3154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8BDF8"/>
                </a:solidFill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31363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Provision with code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350215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Describe the AWS network and EKS cluster entirely in Terraform.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5394960" cy="1207008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77240" y="4526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8BDF8"/>
                </a:solidFill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45079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Deploy repeatably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691640" y="487375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Package the app as a Helm chart and run it on Kubernetes.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4343400"/>
            <a:ext cx="5394960" cy="1207008"/>
          </a:xfrm>
          <a:prstGeom prst="roundRect">
            <a:avLst>
              <a:gd name="adj" fmla="val 606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400800" y="4526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8BDF8"/>
                </a:solidFill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45079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Observe in production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487375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Expose metrics and watch them live in Grafana.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simple, responsive ticketing board</a:t>
            </a:r>
            <a:endParaRPr lang="en-US" sz="3200" dirty="0"/>
          </a:p>
        </p:txBody>
      </p:sp>
      <p:pic>
        <p:nvPicPr>
          <p:cNvPr id="4" name="Image 0" descr="/Users/prateeksingh/Desktop/deskflow-devops-capstone/docs/images/01-app-ui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554480"/>
            <a:ext cx="5577840" cy="27340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1554480"/>
            <a:ext cx="5577840" cy="2734056"/>
          </a:xfrm>
          <a:prstGeom prst="rect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26480" y="431596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Live DeskFlow UI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" y="1645920"/>
            <a:ext cx="274320" cy="2743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0584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Create &amp; manage tickets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19842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Full create / list / view / update / delete.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4360" y="2724912"/>
            <a:ext cx="274320" cy="2743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05840" y="26791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Priorities &amp; status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3063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low to urgent, open to in_progress to resolved to closed.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4360" y="3803904"/>
            <a:ext cx="274320" cy="2743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05840" y="37581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Live stats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414223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Counts by status and priority at a glance.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4360" y="4882896"/>
            <a:ext cx="274320" cy="2743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05840" y="48371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Ops endpoints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522122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Health, readiness and Prometheus /metrics.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Standard, well-supported tools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987552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11096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71600" y="17282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Application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7568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FastAPI / PostgreSQL / SQLAlchemy / Alembic / React + Vite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394960" cy="987552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28232" y="1911096"/>
            <a:ext cx="365760" cy="3657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95160" y="17282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Testing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207568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pytest with an in-memory SQLite test database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5394960" cy="987552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3054096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71600" y="28712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Containers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21868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Docker / Docker Compose / multi-stage builds / non-root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2743200"/>
            <a:ext cx="5394960" cy="987552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28232" y="3054096"/>
            <a:ext cx="365760" cy="3657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95160" y="28712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CI/CD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321868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GitHub Actions / GitHub Container Registry (GHCR)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5394960" cy="987552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4197096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371600" y="40142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Security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436168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Trivy image vulnerability scanning in the pipeline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3886200"/>
            <a:ext cx="5394960" cy="987552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28232" y="4197096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995160" y="40142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Infrastructure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995160" y="436168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Terraform / AWS VPC / Amazon EKS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029200"/>
            <a:ext cx="5394960" cy="987552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4672" y="5340096"/>
            <a:ext cx="365760" cy="3657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371600" y="51572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Orchestration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371600" y="550468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Kubernetes / Helm / Ingress / Horizontal Pod Autoscaler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72200" y="5029200"/>
            <a:ext cx="5394960" cy="987552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28232" y="5340096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995160" y="51572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Monitoring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995160" y="550468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Prometheus / Grafana / ServiceMonitor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a request flows through the cluster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834640" y="1554480"/>
            <a:ext cx="8778240" cy="4206240"/>
          </a:xfrm>
          <a:prstGeom prst="roundRect">
            <a:avLst>
              <a:gd name="adj" fmla="val 1739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2971800" y="16276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Kubernetes cluster  (minikube / Amazon EKS)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1272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Browser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4930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deskflow.local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301752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108960" y="31272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Ingress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34930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/ and /api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57800" y="210312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57800" y="22128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Frontend ×2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25786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Nginx SPA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57800" y="393192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57800" y="4041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Backend ×2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4407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FastAPI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680960" y="393192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680960" y="4041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44074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+ PVC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80960" y="210312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33415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680960" y="22128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Prometheus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25786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scrapes /metrics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92640" y="210312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33415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692640" y="22128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Grafana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692640" y="25786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dashboards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0" y="3474720"/>
            <a:ext cx="8229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663440" y="3291840"/>
            <a:ext cx="594360" cy="-6400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663440" y="3657600"/>
            <a:ext cx="594360" cy="6858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086600" y="4343400"/>
            <a:ext cx="5943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086600" y="2743200"/>
            <a:ext cx="594360" cy="-914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418320" y="251460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2971800" y="5440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HPA scales the backend 2 to 5 pods on CPU / images pulled from GHCR, tagged by commit SHA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</a:rPr>
              <a:t>APPLICATION &amp; API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documented REST API</a:t>
            </a:r>
            <a:endParaRPr lang="en-US" sz="3200" dirty="0"/>
          </a:p>
        </p:txBody>
      </p:sp>
      <p:pic>
        <p:nvPicPr>
          <p:cNvPr id="4" name="Image 0" descr="/Users/prateeksingh/Desktop/deskflow-devops-capstone/docs/images/02-swagger-doc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6766560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6766560" cy="3319272"/>
          </a:xfrm>
          <a:prstGeom prst="rect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8920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Auto-generated Swagger UI at /docs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589520" y="1554480"/>
            <a:ext cx="4023360" cy="4297680"/>
          </a:xfrm>
          <a:prstGeom prst="roundRect">
            <a:avLst>
              <a:gd name="adj" fmla="val 181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81812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Endpoints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/api/tickets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2788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 /api/tickets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3337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/api/tickets/{id}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3886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 /api/tickets/{id}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818120" y="4434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 /api/tickets/{id}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818120" y="4983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/api/tickets/stats/summary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818120" y="5486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2E8F0"/>
                </a:solidFill>
              </a:rPr>
              <a:t>Covers GET / POST / PUT / DELETE + a stats route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</a:rPr>
              <a:t>PROJECT STRUCTURE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clean, conventional layout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00800" cy="4480560"/>
          </a:xfrm>
          <a:prstGeom prst="roundRect">
            <a:avLst>
              <a:gd name="adj" fmla="val 16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6035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deskflow-devops-capstone/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backend/        FastAPI app, Alembic, tests, Dockerfile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frontend/       React + Vite SPA, multi-stage Dockerfile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.github/workflows/   ci-cd.yml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terraform/      VPC + EKS (AWS modules)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k8s/            namespace.yaml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helm/deskflow/  Chart.yaml, values.yaml, templates/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monitoring/     Grafana dashboard JSON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scripts/        deploy-minikube.sh, load-test.sh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troubleshooting/  broken manifests + guide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docker-compose.yml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presentation.pptx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23760" y="1737360"/>
            <a:ext cx="4389120" cy="128016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452360" y="19019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Separation of concerns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52360" y="228600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App code, infra and CI each live in their own area.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223760" y="3200400"/>
            <a:ext cx="4389120" cy="128016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452360" y="33649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Everything in one repo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452360" y="374904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Infra-as-code sits next to the app it deploys.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23760" y="4663440"/>
            <a:ext cx="4389120" cy="128016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452360" y="48280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Readable by a grader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521208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Folder names map directly to rubric modules.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</a:rPr>
              <a:t>CONTAINERIZATION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Both services containerised, running as non-root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</a:rPr>
              <a:t>Backend image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2E8F0"/>
                </a:solidFill>
              </a:rPr>
              <a:t>• python:3.12-slim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2E8F0"/>
                </a:solidFill>
              </a:rPr>
              <a:t>• Runs migrations, then Uvicorn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2E8F0"/>
                </a:solidFill>
              </a:rPr>
              <a:t>• Non-root user  (uid 10001)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C55E"/>
                </a:solidFill>
              </a:rPr>
              <a:t>Frontend image (multi-stage)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2402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2E8F0"/>
                </a:solidFill>
              </a:rPr>
              <a:t>• Stage 1: Node 20 builds the SPA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2E8F0"/>
                </a:solidFill>
              </a:rPr>
              <a:t>• Stage 2: nginx-unprivileged serves it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2E8F0"/>
                </a:solidFill>
              </a:rPr>
              <a:t>• Non-root user  (uid 101)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4069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6177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Starts postgres + backend + frontend together. Verified working: the full stack came up, migrations ran, and all endpoints responded.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53492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5349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all 3 services up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83280" y="53492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383280" y="53492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non-root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</a:rPr>
              <a:t>CI/CD PIPELINE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 push to main runs the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22C5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468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pytest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quality gate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2880360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80360" y="219456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38BD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80360" y="2468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build frontend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Vite build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92040" y="2880360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212080" y="219456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38BD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12080" y="2468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build images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backend + frontend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23760" y="2880360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543800" y="219456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43800" y="2468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Trivy scan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54380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fail on HIGH/CRIT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555480" y="2880360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875520" y="219456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875520" y="2468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push to GHCR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87552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tag = commit SHA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931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If tests fail, nothing is built. If the scan finds a HIGH/CRITICAL vulnerability, nothing is pushed.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526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Images are tagged with the Git commit SHA - never 'latest' - so every deployed image traces back to one exact commit.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Defined in .github/workflows/ci-cd.yml / runs automatically once the repo is pushed to GitHub.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</a:rPr>
              <a:t>DEVSECOPS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scanner caught a real vulnerability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Found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</a:rPr>
              <a:t>HIGH severity CVEs in starlette (a FastAPI dependency) - including CVE-2025-62727, a denial-of-service via Range-header handling. The old Nginx/Alpine base added more.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4805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ECACA"/>
                </a:solidFill>
              </a:rPr>
              <a:t>The scan gate (exit on HIGH/CRITICAL) would block the build here - exactly as intended.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052E2B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9224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Fixed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2860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fastapi to 0.143.3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starlette to 1.8.0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instrumentator to 8.1.0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nginx base to 1.31.7-alpine3.24-slim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41148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F7D0"/>
                </a:solidFill>
              </a:rPr>
              <a:t>After the upgrade: both images scan clean (0 fixable HIGH/CRITICAL) and all 12 tests still pass.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92240" y="512064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51206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both images clean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</a:rPr>
              <a:t>INFRASTRUCTURE AS CODE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AWS environment, described in Terraform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What Terraform creates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VPC (10.0.0.0/16)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2 public + 2 private subnets, 2 AZs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NAT gateway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Amazon EKS control plane (v1.30)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Managed node group (t3.small ×2)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50292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</a:rPr>
              <a:t>Uses the official terraform-aws-modules. init &amp; validate verified clean.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Lifecycle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240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 to  plan  to  apply  to  destroy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37960" y="2926080"/>
            <a:ext cx="4846320" cy="1371600"/>
          </a:xfrm>
          <a:prstGeom prst="roundRect">
            <a:avLst>
              <a:gd name="adj" fmla="val 4000"/>
            </a:avLst>
          </a:prstGeom>
          <a:solidFill>
            <a:srgbClr val="42200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2084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💲 Cost control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34290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</a:rPr>
              <a:t>~$0.30-0.40/hour (control plane + nodes + NAT). Apply, screenshot, then destroy the same day - a demo costs a few dollars.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4572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No credentials live in any file - auth comes from the AWS CLI profile.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</a:rPr>
              <a:t>KUBERNETES + HELM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Deployed and running on a live cluster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92240" cy="2743200"/>
          </a:xfrm>
          <a:prstGeom prst="roundRect">
            <a:avLst>
              <a:gd name="adj" fmla="val 2667"/>
            </a:avLst>
          </a:prstGeom>
          <a:solidFill>
            <a:srgbClr val="020617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-n deskflow get pods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6126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deskflow-backend-...-2dtm9    1/1  Running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deskflow-backend-...-zfgxh    1/1  Running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deskflow-frontend-...-cnpfm   1/1  Running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deskflow-frontend-...-fhfmf   1/1  Running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deskflow-postgres-...-xp7cz   1/1  Running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269480" y="1600200"/>
            <a:ext cx="4343400" cy="969264"/>
          </a:xfrm>
          <a:prstGeom prst="roundRect">
            <a:avLst>
              <a:gd name="adj" fmla="val 754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98080" y="17099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Helm chart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20574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helm upgrade --install deploys everything.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269480" y="2715768"/>
            <a:ext cx="4343400" cy="969264"/>
          </a:xfrm>
          <a:prstGeom prst="roundRect">
            <a:avLst>
              <a:gd name="adj" fmla="val 754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498080" y="28254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2 replicas each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317296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Backend and frontend both run 2 pods.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269480" y="3831336"/>
            <a:ext cx="4343400" cy="969264"/>
          </a:xfrm>
          <a:prstGeom prst="roundRect">
            <a:avLst>
              <a:gd name="adj" fmla="val 754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498080" y="39410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Ingress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428853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Routes / to frontend, /api to backend (verified).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269480" y="4946904"/>
            <a:ext cx="4343400" cy="969264"/>
          </a:xfrm>
          <a:prstGeom prst="roundRect">
            <a:avLst>
              <a:gd name="adj" fmla="val 754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498080" y="50566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HPA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0" y="540410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Scales backend 2 to 5 on 60% CPU (cpu: 5%/60%).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126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Verified live on minikube with the nginx Ingress and metrics-server addons.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</a:rPr>
              <a:t>OBSERVABILITY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Live metrics in Grafana</a:t>
            </a:r>
            <a:endParaRPr lang="en-US" sz="3200" dirty="0"/>
          </a:p>
        </p:txBody>
      </p:sp>
      <p:pic>
        <p:nvPicPr>
          <p:cNvPr id="4" name="Image 0" descr="/Users/prateeksingh/Desktop/deskflow-devops-capstone/docs/images/05-grafana-dashboar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7772400" cy="3813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7772400" cy="3813048"/>
          </a:xfrm>
          <a:prstGeom prst="rect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5394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DeskFlow dashboard - live, under load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/metrics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1929384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Prometheus-format output from the backend.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25877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ServiceMonitor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595360" y="2916936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Tells Prometheus to scrape both pods.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595360" y="35753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2 targets UP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595360" y="390448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Both backend pods confirmed as scrape targets.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595360" y="45628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Live panels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595360" y="4892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Request rate, p95 latency, status codes.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</a:rPr>
              <a:t>VERIFICATION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Everything below was actually run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0574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2C55E"/>
                </a:solidFill>
              </a:rPr>
              <a:t>12</a:t>
            </a:r>
            <a:endParaRPr lang="en-US" sz="6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3375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pytest tests pass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83280" y="20574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38BDF8"/>
                </a:solidFill>
              </a:rPr>
              <a:t>5</a:t>
            </a:r>
            <a:endParaRPr lang="en-US" sz="64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33375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pods Running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0" y="20574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2C55E"/>
                </a:solidFill>
              </a:rPr>
              <a:t>0</a:t>
            </a:r>
            <a:endParaRPr lang="en-US" sz="64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33375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fixable HIGH/CRIT CVEs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52560" y="18288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052560" y="20574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38BDF8"/>
                </a:solidFill>
              </a:rPr>
              <a:t>2</a:t>
            </a:r>
            <a:endParaRPr lang="en-US" sz="64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33375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Prometheus targets UP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663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Verified: Compose stack live / images scanned clean / Helm release deployed / Ingress routing / Grafana dashboard under load / Terraform init/validate clean.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</a:rPr>
              <a:t>CHALLENGES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Problems hit, and how they were solved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950976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19072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Trivy failed the build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171907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2E8F0"/>
                </a:solidFill>
              </a:rPr>
              <a:t>starlette + Alpine CVEs.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1719072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Upgraded dependencies and the base image until the scan was clean.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1064240" cy="950976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2798064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Prometheus didn't scrape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2798064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</a:rPr>
              <a:t>ServiceMonitor not picked up at first.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2798064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Reloaded Prometheus config; both pods then appeared as UP targets.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58184"/>
            <a:ext cx="11064240" cy="950976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3877056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Backend restarted on boot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3877056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2E8F0"/>
                </a:solidFill>
              </a:rPr>
              <a:t>It started before Postgres was ready.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3877056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Readiness/liveness probes let Kubernetes retry until the DB was up.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37176"/>
            <a:ext cx="11064240" cy="950976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495604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Port 5432 clash locally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495604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</a:rPr>
              <a:t>A local Postgres already held the port.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495604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Mapped Compose Postgres to 5433 on the host.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</a:rPr>
              <a:t>RUBRIC COVERAGE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All ten modules addressed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694944"/>
          </a:xfrm>
          <a:prstGeom prst="roundRect">
            <a:avLst>
              <a:gd name="adj" fmla="val 7895"/>
            </a:avLst>
          </a:prstGeom>
          <a:solidFill>
            <a:srgbClr val="E2E8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1691640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M1 Application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892040" y="1856232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92040" y="185623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 pt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691640"/>
            <a:ext cx="5120640" cy="694944"/>
          </a:xfrm>
          <a:prstGeom prst="roundRect">
            <a:avLst>
              <a:gd name="adj" fmla="val 7895"/>
            </a:avLst>
          </a:prstGeom>
          <a:solidFill>
            <a:srgbClr val="E2E8F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29400" y="1691640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M6 Trivy scan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469880" y="1856232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469880" y="185623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 pt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532888"/>
            <a:ext cx="5120640" cy="694944"/>
          </a:xfrm>
          <a:prstGeom prst="roundRect">
            <a:avLst>
              <a:gd name="adj" fmla="val 7895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2532888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M2 Testing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892040" y="269748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92040" y="26974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 pt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2532888"/>
            <a:ext cx="5120640" cy="694944"/>
          </a:xfrm>
          <a:prstGeom prst="roundRect">
            <a:avLst>
              <a:gd name="adj" fmla="val 7895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29400" y="2532888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M7 Terraform / EKS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469880" y="269748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469880" y="26974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15 pt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3374136"/>
            <a:ext cx="5120640" cy="694944"/>
          </a:xfrm>
          <a:prstGeom prst="roundRect">
            <a:avLst>
              <a:gd name="adj" fmla="val 7895"/>
            </a:avLst>
          </a:prstGeom>
          <a:solidFill>
            <a:srgbClr val="E2E8F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51560" y="3374136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M3 Git &amp; GitHub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892040" y="3538728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92040" y="353872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 pt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3374136"/>
            <a:ext cx="5120640" cy="694944"/>
          </a:xfrm>
          <a:prstGeom prst="roundRect">
            <a:avLst>
              <a:gd name="adj" fmla="val 7895"/>
            </a:avLst>
          </a:prstGeom>
          <a:solidFill>
            <a:srgbClr val="E2E8F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29400" y="3374136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M8 Kubernetes + Helm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0469880" y="3538728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469880" y="353872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15 pt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" y="4215384"/>
            <a:ext cx="5120640" cy="694944"/>
          </a:xfrm>
          <a:prstGeom prst="roundRect">
            <a:avLst>
              <a:gd name="adj" fmla="val 7895"/>
            </a:avLst>
          </a:prstGeom>
          <a:solidFill>
            <a:srgbClr val="F1F5F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51560" y="4215384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M4 Docker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892040" y="4379976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892040" y="437997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 pt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0" y="4215384"/>
            <a:ext cx="5120640" cy="694944"/>
          </a:xfrm>
          <a:prstGeom prst="roundRect">
            <a:avLst>
              <a:gd name="adj" fmla="val 7895"/>
            </a:avLst>
          </a:prstGeom>
          <a:solidFill>
            <a:srgbClr val="F1F5F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629400" y="4215384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M9 Observability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0469880" y="4379976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469880" y="437997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 pt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22960" y="5056632"/>
            <a:ext cx="5120640" cy="694944"/>
          </a:xfrm>
          <a:prstGeom prst="roundRect">
            <a:avLst>
              <a:gd name="adj" fmla="val 7895"/>
            </a:avLst>
          </a:prstGeom>
          <a:solidFill>
            <a:srgbClr val="E2E8F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51560" y="5056632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M5 CI/CD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4892040" y="5221224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892040" y="522122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15 pt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0" y="5056632"/>
            <a:ext cx="5120640" cy="694944"/>
          </a:xfrm>
          <a:prstGeom prst="roundRect">
            <a:avLst>
              <a:gd name="adj" fmla="val 7895"/>
            </a:avLst>
          </a:prstGeom>
          <a:solidFill>
            <a:srgbClr val="E2E8F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629400" y="5056632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M10 Docs &amp; demo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10469880" y="5221224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0469880" y="522122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 pt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82296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</a:rPr>
              <a:t>Total: 100 points / six modules verified live, the rest complete on push to GitHub and a Terraform apply.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640080"/>
            <a:ext cx="1280160" cy="128016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332720" y="6400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🎫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8BDF8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83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commit, all the way to production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</a:rPr>
              <a:t>DeskFlow shows the full DevOps lifecycle: code to test to container to scan to registry to infrastructure to Kubernetes to monitoring, with security and cost handled along the way.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840480"/>
            <a:ext cx="10881360" cy="192024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3977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Live demo sequence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4348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1. Show the app to 2. Edit code &amp; push to 3. Watch CI test, scan, push to 4. helm upgrade to 5. Pods roll to 6. Grafana updates to 7. Break a manifest &amp; fix it live.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Thank you - questions welcome.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DevOps Capstone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DeskFlow</dc:creator>
  <cp:lastModifiedBy>DeskFlow</cp:lastModifiedBy>
  <cp:revision>1</cp:revision>
  <dcterms:created xsi:type="dcterms:W3CDTF">2026-10-16T16:40:01Z</dcterms:created>
  <dcterms:modified xsi:type="dcterms:W3CDTF">2026-10-16T16:40:01Z</dcterms:modified>
</cp:coreProperties>
</file>